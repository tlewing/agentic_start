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9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31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8595360" cy="411480"/>
          </a:xfrm>
          <a:prstGeom prst="chevron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PREPARATION PLANNING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338328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PRE-CONSTRUCTION PLANNING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4376" y="845820"/>
            <a:ext cx="8138160" cy="2971800"/>
          </a:xfrm>
          <a:prstGeom prst="rect">
            <a:avLst/>
          </a:prstGeom>
          <a:solidFill>
            <a:srgbClr val="D6E6F4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66160" y="10058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Selection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Turnover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149733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49482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50876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740148"/>
            <a:ext cx="210312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3395" y="2011679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20116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Buyout Process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17649" y="1920240"/>
            <a:ext cx="2" cy="51297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37360" y="2011680"/>
            <a:ext cx="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0" y="2217420"/>
            <a:ext cx="402336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251460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0" y="251460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251460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Plan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37360" y="242316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0" y="1884556"/>
            <a:ext cx="0" cy="630044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06640" y="242316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66160" y="30175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6616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flipH="1">
            <a:off x="1709482" y="2926080"/>
            <a:ext cx="27878" cy="29718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09482" y="3247793"/>
            <a:ext cx="283464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292608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H="1">
            <a:off x="7406639" y="2926080"/>
            <a:ext cx="1" cy="29718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44122" y="3223260"/>
            <a:ext cx="283464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206240" y="4023360"/>
            <a:ext cx="731520" cy="32004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0400" y="43891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4472C4"/>
          </a:solidFill>
          <a:ln w="12700">
            <a:solidFill>
              <a:srgbClr val="2E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Kickoff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274320" y="4892040"/>
            <a:ext cx="8595360" cy="411480"/>
          </a:xfrm>
          <a:prstGeom prst="chevron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JOBSITE MANAGEMENT PLANNING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PRE-CONSTRUCTION PLANNING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397764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Turnover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2286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508760"/>
            <a:ext cx="6400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0" cy="27432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0" y="1508760"/>
            <a:ext cx="0" cy="27432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600200"/>
            <a:ext cx="3657600" cy="251460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80360" y="169164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1691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Finalize selection of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project manager, field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supervisor, and other key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team members.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80360" y="228600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0360" y="2286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Hold turnover meeting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between estimator and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project manager.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80360" y="288036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80360" y="2880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Hold separate turnover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meeting between project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manager and field super-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visor.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80360" y="347472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03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Hold pre-job (planning)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kickoff meeting with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internal team members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 assign responsibilities.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18470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75120" y="244144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0" y="303580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75120" y="363016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1600" y="4251960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406908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0" y="4069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4069080"/>
            <a:ext cx="0" cy="18288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49040" y="4069080"/>
            <a:ext cx="0" cy="18288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4663440"/>
            <a:ext cx="2743200" cy="9144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31920" y="4709160"/>
            <a:ext cx="1280160" cy="137160"/>
          </a:xfrm>
          <a:prstGeom prst="roundRect">
            <a:avLst>
              <a:gd name="adj" fmla="val 33333"/>
            </a:avLst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PRE-CONSTRUCTION PLANNING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8686800" cy="452628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85039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66160" y="475488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66160" y="475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Selection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Turnover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10972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932688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932688"/>
            <a:ext cx="0" cy="10972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0" y="932688"/>
            <a:ext cx="0" cy="10972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042416"/>
            <a:ext cx="3291840" cy="32004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042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389888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Set up project files and create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contact list.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719072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7190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Set up computer tracking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control system.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048256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048256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Initiate a change management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system.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Initiate an RFI tracking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processing system.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706624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Initiate a submittal tracking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processing system.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035808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035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Develop a "Labor Requirements/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Expectations" letter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(recommended).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394960" y="1042416"/>
            <a:ext cx="3291840" cy="32004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1042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94960" y="1389888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1389888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Review contract for unfavorable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or high risk clauses (recommended).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94960" y="1719072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0" y="17190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Project manager reviews plans,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specifications, and schedule.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94960" y="2048256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4960" y="2048256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Field supervisor reviews plans,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specifications, and schedule.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394960" y="2377440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9496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Create a list of issues that need to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 resolved and begin the request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for information (RFI) process.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394960" y="2788920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94960" y="2788920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Conduct site visit (recommended).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394960" y="3118104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94960" y="31181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Compare estimated (bid) work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activities and materials to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planned performance.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94960" y="3529584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94960" y="3529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Identify value engineering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prefabrication opportunities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how to simplify the work.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394960" y="3941064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94960" y="3941064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Prepare construction takeoff.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" y="3584448"/>
            <a:ext cx="0" cy="804672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3657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418795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187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and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783080" y="418795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783080" y="4187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108960" y="418795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08960" y="4187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Buyout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051560" y="4187952"/>
            <a:ext cx="0" cy="20116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377440" y="4187952"/>
            <a:ext cx="0" cy="20116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703320" y="4187952"/>
            <a:ext cx="0" cy="20116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926080" y="4937760"/>
            <a:ext cx="3291840" cy="73152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840480" y="4974336"/>
            <a:ext cx="1463040" cy="91440"/>
          </a:xfrm>
          <a:prstGeom prst="roundRect">
            <a:avLst>
              <a:gd name="adj" fmla="val 30000"/>
            </a:avLst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PRE-CONSTRUCTION PLANNING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8686800" cy="452628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85039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66160" y="475488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66160" y="475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10972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932688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932688"/>
            <a:ext cx="0" cy="10972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0" y="932688"/>
            <a:ext cx="0" cy="109728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042416"/>
            <a:ext cx="3291840" cy="32004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042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389888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Develop installation sequence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and layout drawings.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719072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719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 Develop field instructions,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including panel, pull or conduit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schedules.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130552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130552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 Develop prefabrication drawings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for field use.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3291840" cy="32004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4597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807208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807208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 Review customer's schedule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timeline.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136392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36392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 Identify work that impacts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electrical activities.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3465576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4655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 Review the work sequence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long-lead-time material/equipment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delivery dates.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3877056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877056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 Coordinate electrical schedule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with the customers schedule.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 Create a bar chart schedule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(recommended).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94960" y="1042416"/>
            <a:ext cx="3291840" cy="32004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4960" y="1042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Buyout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94960" y="1389888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94960" y="1389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Request/review subcontract/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supplier/vendor prices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qualifications.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394960" y="1801368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94960" y="1801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Negotiate pricing and contract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conditions and select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subcontractors.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394960" y="2212848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94960" y="2212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Develop and issue purchase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orders and contracts for materials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and equipment.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94960" y="2624328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94960" y="26243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Order long-lead-time materials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and equipment.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394960" y="2953512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94960" y="2953512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Request submittals, cut sheets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and shop drawings.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94960" y="3282696"/>
            <a:ext cx="329184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94960" y="32826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Develop and process log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book of submittals, cut sheets,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and shop drawings.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94960" y="3694176"/>
            <a:ext cx="3291840" cy="32004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94960" y="36941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Handling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94960" y="4041648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94960" y="40416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Develop material delivery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handling plan.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394960" y="4370832"/>
            <a:ext cx="3291840" cy="301752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394960" y="4370832"/>
            <a:ext cx="3291840" cy="30175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Develop material storage 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staging plan.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418795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86200" y="4187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57200" y="4297680"/>
            <a:ext cx="0" cy="2286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" y="4526280"/>
            <a:ext cx="4114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72000" y="4526280"/>
            <a:ext cx="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926080" y="4937760"/>
            <a:ext cx="3291840" cy="73152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840480" y="4974336"/>
            <a:ext cx="1463040" cy="91440"/>
          </a:xfrm>
          <a:prstGeom prst="roundRect">
            <a:avLst>
              <a:gd name="adj" fmla="val 30000"/>
            </a:avLst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PRE-CONSTRUCTION PLANNING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65760" y="292608"/>
            <a:ext cx="8412480" cy="352044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82296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45720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0" y="457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0" cy="914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896112"/>
            <a:ext cx="2743200" cy="3474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896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29260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280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Develop, review or expand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cost code scheme.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9344"/>
            <a:ext cx="274320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609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Develop budget by breaking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down labor, material, over-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head and profit.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0" y="2029968"/>
            <a:ext cx="2743200" cy="29260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2029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Develop schedule of values.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2551176"/>
            <a:ext cx="10972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2377440"/>
            <a:ext cx="2743200" cy="3474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2377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761488"/>
            <a:ext cx="2743200" cy="38404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2761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 Customize the computerized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tracking and control system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for the current project.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00400" y="3182112"/>
            <a:ext cx="2743200" cy="292608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 Develop labor and materials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tracking report.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60520" y="3858768"/>
            <a:ext cx="822960" cy="365760"/>
          </a:xfrm>
          <a:prstGeom prst="downArrow">
            <a:avLst/>
          </a:prstGeom>
          <a:solidFill>
            <a:srgbClr val="4472C4"/>
          </a:solidFill>
          <a:ln w="12700">
            <a:solidFill>
              <a:srgbClr val="1E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4279392"/>
            <a:ext cx="2560320" cy="411480"/>
          </a:xfrm>
          <a:prstGeom prst="rect">
            <a:avLst/>
          </a:prstGeom>
          <a:solidFill>
            <a:srgbClr val="D6E6F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Kickoff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4773168"/>
            <a:ext cx="3291840" cy="73152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0" y="4809744"/>
            <a:ext cx="1463040" cy="91440"/>
          </a:xfrm>
          <a:prstGeom prst="roundRect">
            <a:avLst>
              <a:gd name="adj" fmla="val 30000"/>
            </a:avLst>
          </a:prstGeom>
          <a:solidFill>
            <a:srgbClr val="1E4E8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621</Words>
  <Application>Microsoft Office PowerPoint</Application>
  <PresentationFormat>On-screen Show (16:9)</PresentationFormat>
  <Paragraphs>165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Pre-Construction Planning Flowchart</dc:title>
  <dc:subject>PptxGenJS Presentation</dc:subject>
  <dc:creator>GSL</dc:creator>
  <cp:lastModifiedBy>Tom Ewing</cp:lastModifiedBy>
  <cp:revision>2</cp:revision>
  <dcterms:created xsi:type="dcterms:W3CDTF">2026-01-19T23:52:11Z</dcterms:created>
  <dcterms:modified xsi:type="dcterms:W3CDTF">2026-01-20T01:55:17Z</dcterms:modified>
</cp:coreProperties>
</file>